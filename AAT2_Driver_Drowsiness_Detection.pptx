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02b4fcb-19d3-d713-f591-e3d3eaeaaa95}">
          <p14:sldIdLst>
            <p14:sldId id="256"/>
          </p14:sldIdLst>
        </p14:section>
        <p14:section name="Approach" id="{4a062985-13b4-9557-de2f-05968b0f7cea}">
          <p14:sldIdLst>
            <p14:sldId id="257"/>
            <p14:sldId id="258"/>
          </p14:sldIdLst>
        </p14:section>
        <p14:section name="Method" id="{6d7a9328-7098-8be9-29e1-31fdaa4d4584}">
          <p14:sldIdLst>
            <p14:sldId id="259"/>
          </p14:sldIdLst>
        </p14:section>
        <p14:section name="Results" id="{aca0b0fc-42b9-d561-96e2-ca41b4741513}">
          <p14:sldIdLst>
            <p14:sldId id="260"/>
            <p14:sldId id="261"/>
          </p14:sldIdLst>
        </p14:section>
        <p14:section name="Conclusion" id="{49b8cb77-aae3-add4-8eda-18ef65ac7ed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2B45"/>
                </a:solidFill>
                <a:latin typeface="+mn-lt"/>
              </a:rPr>
              <a:t>Frames with eyes closed (%) per driver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Drowsy video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G</c:v>
                  </c:pt>
                  <c:pt idx="6">
                    <c:v>H</c:v>
                  </c:pt>
                  <c:pt idx="7">
                    <c:v>I</c:v>
                  </c:pt>
                  <c:pt idx="8">
                    <c:v>J</c:v>
                  </c:pt>
                  <c:pt idx="9">
                    <c:v>K</c:v>
                  </c:pt>
                  <c:pt idx="10">
                    <c:v>L</c:v>
                  </c:pt>
                  <c:pt idx="11">
                    <c:v>M</c:v>
                  </c:pt>
                  <c:pt idx="12">
                    <c:v>N</c:v>
                  </c:pt>
                  <c:pt idx="13">
                    <c:v>O</c:v>
                  </c:pt>
                  <c:pt idx="14">
                    <c:v>P</c:v>
                  </c:pt>
                  <c:pt idx="15">
                    <c:v>Q</c:v>
                  </c:pt>
                  <c:pt idx="16">
                    <c:v>R</c:v>
                  </c:pt>
                  <c:pt idx="17">
                    <c:v>S</c:v>
                  </c:pt>
                  <c:pt idx="18">
                    <c:v>U</c:v>
                  </c:pt>
                  <c:pt idx="19">
                    <c:v>V</c:v>
                  </c:pt>
                  <c:pt idx="20">
                    <c:v>W</c:v>
                  </c:pt>
                  <c:pt idx="21">
                    <c:v>X</c:v>
                  </c:pt>
                  <c:pt idx="22">
                    <c:v>Y</c:v>
                  </c:pt>
                  <c:pt idx="23">
                    <c:v>ZA</c:v>
                  </c:pt>
                  <c:pt idx="24">
                    <c:v>ZB</c:v>
                  </c:pt>
                  <c:pt idx="25">
                    <c:v>ZC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94.5</c:v>
                </c:pt>
                <c:pt idx="1">
                  <c:v>45.2</c:v>
                </c:pt>
                <c:pt idx="2">
                  <c:v>5.3</c:v>
                </c:pt>
                <c:pt idx="3">
                  <c:v>85</c:v>
                </c:pt>
                <c:pt idx="4">
                  <c:v>31.6</c:v>
                </c:pt>
                <c:pt idx="5">
                  <c:v>72</c:v>
                </c:pt>
                <c:pt idx="6">
                  <c:v>69.6</c:v>
                </c:pt>
                <c:pt idx="7">
                  <c:v>56.7</c:v>
                </c:pt>
                <c:pt idx="8">
                  <c:v>98.7</c:v>
                </c:pt>
                <c:pt idx="9">
                  <c:v>71.1</c:v>
                </c:pt>
                <c:pt idx="10">
                  <c:v>100</c:v>
                </c:pt>
                <c:pt idx="11">
                  <c:v>99.2</c:v>
                </c:pt>
                <c:pt idx="12">
                  <c:v>94.5</c:v>
                </c:pt>
                <c:pt idx="13">
                  <c:v>88.3</c:v>
                </c:pt>
                <c:pt idx="14">
                  <c:v>99.1</c:v>
                </c:pt>
                <c:pt idx="15">
                  <c:v>96.3</c:v>
                </c:pt>
                <c:pt idx="16">
                  <c:v>86.6</c:v>
                </c:pt>
                <c:pt idx="17">
                  <c:v>79</c:v>
                </c:pt>
                <c:pt idx="18">
                  <c:v>12</c:v>
                </c:pt>
                <c:pt idx="19">
                  <c:v>31.3</c:v>
                </c:pt>
                <c:pt idx="20">
                  <c:v>8</c:v>
                </c:pt>
                <c:pt idx="21">
                  <c:v>62.4</c:v>
                </c:pt>
                <c:pt idx="22">
                  <c:v>86.2</c:v>
                </c:pt>
                <c:pt idx="23">
                  <c:v>75.9</c:v>
                </c:pt>
                <c:pt idx="24">
                  <c:v>64.6</c:v>
                </c:pt>
                <c:pt idx="25">
                  <c:v>16.3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 video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G</c:v>
                  </c:pt>
                  <c:pt idx="6">
                    <c:v>H</c:v>
                  </c:pt>
                  <c:pt idx="7">
                    <c:v>I</c:v>
                  </c:pt>
                  <c:pt idx="8">
                    <c:v>J</c:v>
                  </c:pt>
                  <c:pt idx="9">
                    <c:v>K</c:v>
                  </c:pt>
                  <c:pt idx="10">
                    <c:v>L</c:v>
                  </c:pt>
                  <c:pt idx="11">
                    <c:v>M</c:v>
                  </c:pt>
                  <c:pt idx="12">
                    <c:v>N</c:v>
                  </c:pt>
                  <c:pt idx="13">
                    <c:v>O</c:v>
                  </c:pt>
                  <c:pt idx="14">
                    <c:v>P</c:v>
                  </c:pt>
                  <c:pt idx="15">
                    <c:v>Q</c:v>
                  </c:pt>
                  <c:pt idx="16">
                    <c:v>R</c:v>
                  </c:pt>
                  <c:pt idx="17">
                    <c:v>S</c:v>
                  </c:pt>
                  <c:pt idx="18">
                    <c:v>U</c:v>
                  </c:pt>
                  <c:pt idx="19">
                    <c:v>V</c:v>
                  </c:pt>
                  <c:pt idx="20">
                    <c:v>W</c:v>
                  </c:pt>
                  <c:pt idx="21">
                    <c:v>X</c:v>
                  </c:pt>
                  <c:pt idx="22">
                    <c:v>Y</c:v>
                  </c:pt>
                  <c:pt idx="23">
                    <c:v>ZA</c:v>
                  </c:pt>
                  <c:pt idx="24">
                    <c:v>ZB</c:v>
                  </c:pt>
                  <c:pt idx="25">
                    <c:v>ZC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9.6</c:v>
                </c:pt>
                <c:pt idx="1">
                  <c:v>2.2</c:v>
                </c:pt>
                <c:pt idx="2">
                  <c:v>5.2</c:v>
                </c:pt>
                <c:pt idx="3">
                  <c:v>83.3</c:v>
                </c:pt>
                <c:pt idx="4">
                  <c:v>13.4</c:v>
                </c:pt>
                <c:pt idx="5">
                  <c:v>5.4</c:v>
                </c:pt>
                <c:pt idx="6">
                  <c:v>21.4</c:v>
                </c:pt>
                <c:pt idx="7">
                  <c:v>11.8</c:v>
                </c:pt>
                <c:pt idx="8">
                  <c:v>5.5</c:v>
                </c:pt>
                <c:pt idx="9">
                  <c:v>17.3</c:v>
                </c:pt>
                <c:pt idx="10">
                  <c:v>54.8</c:v>
                </c:pt>
                <c:pt idx="11">
                  <c:v>52.9</c:v>
                </c:pt>
                <c:pt idx="12">
                  <c:v>15.6</c:v>
                </c:pt>
                <c:pt idx="13">
                  <c:v>1.8</c:v>
                </c:pt>
                <c:pt idx="14">
                  <c:v>95.3</c:v>
                </c:pt>
                <c:pt idx="15">
                  <c:v>74</c:v>
                </c:pt>
                <c:pt idx="16">
                  <c:v>13.3</c:v>
                </c:pt>
                <c:pt idx="17">
                  <c:v>2</c:v>
                </c:pt>
                <c:pt idx="18">
                  <c:v>18.8</c:v>
                </c:pt>
                <c:pt idx="19">
                  <c:v>3.6</c:v>
                </c:pt>
                <c:pt idx="20">
                  <c:v>2.4</c:v>
                </c:pt>
                <c:pt idx="21">
                  <c:v>62.3</c:v>
                </c:pt>
                <c:pt idx="22">
                  <c:v>0</c:v>
                </c:pt>
                <c:pt idx="23">
                  <c:v>2</c:v>
                </c:pt>
                <c:pt idx="24">
                  <c:v>18.8</c:v>
                </c:pt>
                <c:pt idx="25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D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DriveAlert watches the driver through a camera. A CNN decides in every frame whether the eyes are open or closed, and an alarm sounds when they stay closed for 15 frames in a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signal and approach. The pipeline below: camera, Haar face detection, two eye crops, eye-state CNN, frame counter,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fairly by splitting the Driver Drowsiness Dataset by person. The whole-face CNN memorised identities. Switching to eye state fixed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Eyes are cropped as squares of 1.6 times the eye width so the crop size cannot leak the label. A BatchNorm momentum bug was found and fixed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held-out set comes from the same source as training. The real-world set is the honest test. Most real errors are open eyes called closed; the 15-frame rule filters those single-frame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pipeline was run on 13,924 frames of real driver videos the model never saw. On the right, the Gradio app on two real frames of the same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next steps. Code, models and report are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Driver Drowsiness Detection using CNN   |   Dept. of ISE, DSCE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Arpit529Srivastava/Deep-Learning-AAT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Driver Drowsiness Detection using CNN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AAT 2  |  Introduction to Deep Learning (22IS741)</a:t>
            </a:r>
            <a:endParaRPr lang="en-US" sz="1600" dirty="0"/>
          </a:p>
        </p:txBody>
      </p:sp>
      <p:sp>
        <p:nvSpPr>
          <p:cNvPr id="4" name="team"/>
          <p:cNvSpPr txBox="1"/>
          <p:nvPr/>
        </p:nvSpPr>
        <p:spPr>
          <a:xfrm>
            <a:off x="548640" y="36118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Arpit Srivastava (1DS23IS023)   Khushi Agrawal (1DS23IS074)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Himanshu (1DS23IS061)   Harsh Kumar Gupta (1DS23IS054)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Dept. of ISE, Dayananda Sagar College of Engineering</a:t>
            </a:r>
            <a:endParaRPr lang="en-US" sz="1300" dirty="0"/>
          </a:p>
        </p:txBody>
      </p:sp>
      <p:sp>
        <p:nvSpPr>
          <p:cNvPr id="5" name="eye circle"/>
          <p:cNvSpPr/>
          <p:nvPr/>
        </p:nvSpPr>
        <p:spPr>
          <a:xfrm>
            <a:off x="6537960" y="123444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y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188720" cy="1188720"/>
          </a:xfrm>
          <a:prstGeom prst="rect">
            <a:avLst/>
          </a:prstGeom>
        </p:spPr>
      </p:pic>
      <p:sp>
        <p:nvSpPr>
          <p:cNvPr id="7" name="tagline"/>
          <p:cNvSpPr txBox="1"/>
          <p:nvPr/>
        </p:nvSpPr>
        <p:spPr>
          <a:xfrm>
            <a:off x="62179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Eyes closed for 15 frames  →  alarm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Long eye closure is the clearest sign of drowsiness</a:t>
            </a:r>
            <a:endParaRPr lang="en-US" sz="2800" dirty="0"/>
          </a:p>
        </p:txBody>
      </p:sp>
      <p:sp>
        <p:nvSpPr>
          <p:cNvPr id="3" name="The problem card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he problem circle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he 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35608"/>
            <a:ext cx="274320" cy="274320"/>
          </a:xfrm>
          <a:prstGeom prst="rect">
            <a:avLst/>
          </a:prstGeom>
        </p:spPr>
      </p:pic>
      <p:sp>
        <p:nvSpPr>
          <p:cNvPr id="6" name="The problem head"/>
          <p:cNvSpPr txBox="1"/>
          <p:nvPr/>
        </p:nvSpPr>
        <p:spPr>
          <a:xfrm>
            <a:off x="13258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he problem body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Drowsy drivers react slowly and can fall asleep for seconds; there is no roadside test for it.</a:t>
            </a:r>
            <a:endParaRPr lang="en-US" sz="1300" dirty="0"/>
          </a:p>
        </p:txBody>
      </p:sp>
      <p:sp>
        <p:nvSpPr>
          <p:cNvPr id="8" name="The signal card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The signal circle"/>
          <p:cNvSpPr/>
          <p:nvPr/>
        </p:nvSpPr>
        <p:spPr>
          <a:xfrm>
            <a:off x="3429000" y="1298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he sign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35608"/>
            <a:ext cx="274320" cy="274320"/>
          </a:xfrm>
          <a:prstGeom prst="rect">
            <a:avLst/>
          </a:prstGeom>
        </p:spPr>
      </p:pic>
      <p:sp>
        <p:nvSpPr>
          <p:cNvPr id="11" name="The signal head"/>
          <p:cNvSpPr txBox="1"/>
          <p:nvPr/>
        </p:nvSpPr>
        <p:spPr>
          <a:xfrm>
            <a:off x="41148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signal</a:t>
            </a:r>
            <a:endParaRPr lang="en-US" sz="1600" dirty="0"/>
          </a:p>
        </p:txBody>
      </p:sp>
      <p:sp>
        <p:nvSpPr>
          <p:cNvPr id="12" name="The signal body"/>
          <p:cNvSpPr txBox="1"/>
          <p:nvPr/>
        </p:nvSpPr>
        <p:spPr>
          <a:xfrm>
            <a:off x="342900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normal blink lasts about 0.1 s. A drowsy driver keeps the eyes shut much longer.</a:t>
            </a:r>
            <a:endParaRPr lang="en-US" sz="1300" dirty="0"/>
          </a:p>
        </p:txBody>
      </p:sp>
      <p:sp>
        <p:nvSpPr>
          <p:cNvPr id="13" name="Our approach card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Our approach circle"/>
          <p:cNvSpPr/>
          <p:nvPr/>
        </p:nvSpPr>
        <p:spPr>
          <a:xfrm>
            <a:off x="6217920" y="129844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Our approa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35608"/>
            <a:ext cx="274320" cy="274320"/>
          </a:xfrm>
          <a:prstGeom prst="rect">
            <a:avLst/>
          </a:prstGeom>
        </p:spPr>
      </p:pic>
      <p:sp>
        <p:nvSpPr>
          <p:cNvPr id="16" name="Our approach head"/>
          <p:cNvSpPr txBox="1"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Our approach</a:t>
            </a:r>
            <a:endParaRPr lang="en-US" sz="1600" dirty="0"/>
          </a:p>
        </p:txBody>
      </p:sp>
      <p:sp>
        <p:nvSpPr>
          <p:cNvPr id="17" name="Our approach body"/>
          <p:cNvSpPr txBox="1"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CNN classifies each eye as Open or Closed; a frame counter turns that into an alert.</a:t>
            </a:r>
            <a:endParaRPr lang="en-US" sz="1300" dirty="0"/>
          </a:p>
        </p:txBody>
      </p:sp>
      <p:pic>
        <p:nvPicPr>
          <p:cNvPr id="18" name="pipeline" descr="/Users/admin/Desktop/DL_AAT/aat2/deck/img/aat2_block_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8229600" cy="14142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Whole-face models failed on unseen drivers</a:t>
            </a:r>
            <a:endParaRPr lang="en-US" sz="2800" dirty="0"/>
          </a:p>
        </p:txBody>
      </p:sp>
      <p:sp>
        <p:nvSpPr>
          <p:cNvPr id="3" name="CNN on the whole face card"/>
          <p:cNvSpPr/>
          <p:nvPr/>
        </p:nvSpPr>
        <p:spPr>
          <a:xfrm>
            <a:off x="45720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CNN on the whole face circle"/>
          <p:cNvSpPr/>
          <p:nvPr/>
        </p:nvSpPr>
        <p:spPr>
          <a:xfrm>
            <a:off x="242316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NN on the whole fa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60" y="1440180"/>
            <a:ext cx="228600" cy="228600"/>
          </a:xfrm>
          <a:prstGeom prst="rect">
            <a:avLst/>
          </a:prstGeom>
        </p:spPr>
      </p:pic>
      <p:sp>
        <p:nvSpPr>
          <p:cNvPr id="6" name="CNN on the whole face value"/>
          <p:cNvSpPr txBox="1"/>
          <p:nvPr/>
        </p:nvSpPr>
        <p:spPr>
          <a:xfrm>
            <a:off x="68580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69.7%</a:t>
            </a:r>
            <a:endParaRPr lang="en-US" sz="4000" dirty="0"/>
          </a:p>
        </p:txBody>
      </p:sp>
      <p:sp>
        <p:nvSpPr>
          <p:cNvPr id="7" name="CNN on the whole face unit"/>
          <p:cNvSpPr txBox="1"/>
          <p:nvPr/>
        </p:nvSpPr>
        <p:spPr>
          <a:xfrm>
            <a:off x="6858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accuracy on unseen faces</a:t>
            </a:r>
            <a:endParaRPr lang="en-US" sz="1100" dirty="0"/>
          </a:p>
        </p:txBody>
      </p:sp>
      <p:sp>
        <p:nvSpPr>
          <p:cNvPr id="8" name="CNN on the whole face head"/>
          <p:cNvSpPr txBox="1"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CNN on the whole face</a:t>
            </a:r>
            <a:endParaRPr lang="en-US" sz="1600" dirty="0"/>
          </a:p>
        </p:txBody>
      </p:sp>
      <p:sp>
        <p:nvSpPr>
          <p:cNvPr id="9" name="CNN on the whole face body"/>
          <p:cNvSpPr txBox="1"/>
          <p:nvPr/>
        </p:nvSpPr>
        <p:spPr>
          <a:xfrm>
            <a:off x="68580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98% on training faces, AUC 0.58 on new people</a:t>
            </a:r>
            <a:endParaRPr lang="en-US" sz="1300" dirty="0"/>
          </a:p>
        </p:txBody>
      </p:sp>
      <p:sp>
        <p:nvSpPr>
          <p:cNvPr id="10" name="MobileNetV2 features card"/>
          <p:cNvSpPr/>
          <p:nvPr/>
        </p:nvSpPr>
        <p:spPr>
          <a:xfrm>
            <a:off x="324612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1" name="MobileNetV2 features circle"/>
          <p:cNvSpPr/>
          <p:nvPr/>
        </p:nvSpPr>
        <p:spPr>
          <a:xfrm>
            <a:off x="521208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MobileNetV2 featur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1440180"/>
            <a:ext cx="228600" cy="228600"/>
          </a:xfrm>
          <a:prstGeom prst="rect">
            <a:avLst/>
          </a:prstGeom>
        </p:spPr>
      </p:pic>
      <p:sp>
        <p:nvSpPr>
          <p:cNvPr id="13" name="MobileNetV2 features value"/>
          <p:cNvSpPr txBox="1"/>
          <p:nvPr/>
        </p:nvSpPr>
        <p:spPr>
          <a:xfrm>
            <a:off x="347472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49.7%</a:t>
            </a:r>
            <a:endParaRPr lang="en-US" sz="4000" dirty="0"/>
          </a:p>
        </p:txBody>
      </p:sp>
      <p:sp>
        <p:nvSpPr>
          <p:cNvPr id="14" name="MobileNetV2 features unit"/>
          <p:cNvSpPr txBox="1"/>
          <p:nvPr/>
        </p:nvSpPr>
        <p:spPr>
          <a:xfrm>
            <a:off x="34747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accuracy on unseen faces</a:t>
            </a:r>
            <a:endParaRPr lang="en-US" sz="1100" dirty="0"/>
          </a:p>
        </p:txBody>
      </p:sp>
      <p:sp>
        <p:nvSpPr>
          <p:cNvPr id="15" name="MobileNetV2 features head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MobileNetV2 features</a:t>
            </a:r>
            <a:endParaRPr lang="en-US" sz="1600" dirty="0"/>
          </a:p>
        </p:txBody>
      </p:sp>
      <p:sp>
        <p:nvSpPr>
          <p:cNvPr id="16" name="MobileNetV2 features body"/>
          <p:cNvSpPr txBox="1"/>
          <p:nvPr/>
        </p:nvSpPr>
        <p:spPr>
          <a:xfrm>
            <a:off x="347472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Pre-trained ImageNet CNN on the whole face: chance level</a:t>
            </a:r>
            <a:endParaRPr lang="en-US" sz="1300" dirty="0"/>
          </a:p>
        </p:txBody>
      </p:sp>
      <p:sp>
        <p:nvSpPr>
          <p:cNvPr id="17" name="CNN on eye state card"/>
          <p:cNvSpPr/>
          <p:nvPr/>
        </p:nvSpPr>
        <p:spPr>
          <a:xfrm>
            <a:off x="603504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</p:spPr>
      </p:sp>
      <p:sp>
        <p:nvSpPr>
          <p:cNvPr id="18" name="CNN on eye state circle"/>
          <p:cNvSpPr/>
          <p:nvPr/>
        </p:nvSpPr>
        <p:spPr>
          <a:xfrm>
            <a:off x="800100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CNN on eye stat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440180"/>
            <a:ext cx="228600" cy="228600"/>
          </a:xfrm>
          <a:prstGeom prst="rect">
            <a:avLst/>
          </a:prstGeom>
        </p:spPr>
      </p:pic>
      <p:sp>
        <p:nvSpPr>
          <p:cNvPr id="20" name="CNN on eye state value"/>
          <p:cNvSpPr txBox="1"/>
          <p:nvPr/>
        </p:nvSpPr>
        <p:spPr>
          <a:xfrm>
            <a:off x="626364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99.45%</a:t>
            </a:r>
            <a:endParaRPr lang="en-US" sz="4000" dirty="0"/>
          </a:p>
        </p:txBody>
      </p:sp>
      <p:sp>
        <p:nvSpPr>
          <p:cNvPr id="21" name="CNN on eye state unit"/>
          <p:cNvSpPr txBox="1"/>
          <p:nvPr/>
        </p:nvSpPr>
        <p:spPr>
          <a:xfrm>
            <a:off x="6263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accuracy on unseen faces</a:t>
            </a:r>
            <a:endParaRPr lang="en-US" sz="1100" dirty="0"/>
          </a:p>
        </p:txBody>
      </p:sp>
      <p:sp>
        <p:nvSpPr>
          <p:cNvPr id="22" name="CNN on eye state head"/>
          <p:cNvSpPr txBox="1"/>
          <p:nvPr/>
        </p:nvSpPr>
        <p:spPr>
          <a:xfrm>
            <a:off x="6263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CNN on eye state</a:t>
            </a:r>
            <a:endParaRPr lang="en-US" sz="1600" dirty="0"/>
          </a:p>
        </p:txBody>
      </p:sp>
      <p:sp>
        <p:nvSpPr>
          <p:cNvPr id="23" name="CNN on eye state body"/>
          <p:cNvSpPr txBox="1"/>
          <p:nvPr/>
        </p:nvSpPr>
        <p:spPr>
          <a:xfrm>
            <a:off x="6263640" y="3063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Final design: eye closure does not depend on who the driver is</a:t>
            </a:r>
            <a:endParaRPr lang="en-US" sz="1300" dirty="0"/>
          </a:p>
        </p:txBody>
      </p:sp>
      <p:sp>
        <p:nvSpPr>
          <p:cNvPr id="24" name="insight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Always answering "Drowsy" already scores 58.5%: the whole-face models learned who the person is, not how tired they look.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small CNN trained on 42,131 eye crops</a:t>
            </a:r>
            <a:endParaRPr lang="en-US" sz="2800" dirty="0"/>
          </a:p>
        </p:txBody>
      </p:sp>
      <p:pic>
        <p:nvPicPr>
          <p:cNvPr id="3" name="eye samples" descr="/Users/admin/Desktop/DL_AAT/aat2/deck/img/aat2_dataset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97680" cy="2167725"/>
          </a:xfrm>
          <a:prstGeom prst="rect">
            <a:avLst/>
          </a:prstGeom>
        </p:spPr>
      </p:pic>
      <p:sp>
        <p:nvSpPr>
          <p:cNvPr id="4" name="samples caption"/>
          <p:cNvSpPr txBox="1"/>
          <p:nvPr/>
        </p:nvSpPr>
        <p:spPr>
          <a:xfrm>
            <a:off x="457200" y="3364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Training eyes (rows 1-2) and the separate real-world test photos (rows 3-4)</a:t>
            </a:r>
            <a:endParaRPr lang="en-US" sz="1000" dirty="0"/>
          </a:p>
        </p:txBody>
      </p:sp>
      <p:pic>
        <p:nvPicPr>
          <p:cNvPr id="5" name="architecture" descr="/Users/admin/Desktop/DL_AAT/aat2/deck/img/aat2_cnn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3703320" cy="1013092"/>
          </a:xfrm>
          <a:prstGeom prst="rect">
            <a:avLst/>
          </a:prstGeom>
        </p:spPr>
      </p:pic>
      <p:sp>
        <p:nvSpPr>
          <p:cNvPr id="6" name="model facts"/>
          <p:cNvSpPr txBox="1"/>
          <p:nvPr/>
        </p:nvSpPr>
        <p:spPr>
          <a:xfrm>
            <a:off x="4983480" y="233172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Input: 64×64 grayscale eye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conv blocks, 304,417 parameters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 by face: 70 / 15 / 15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Augmentation: flip, rotate, blur, noise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Adam, binary cross-entropy, early stopping</a:t>
            </a:r>
            <a:endParaRPr lang="en-US" sz="1400" dirty="0"/>
          </a:p>
        </p:txBody>
      </p:sp>
      <p:sp>
        <p:nvSpPr>
          <p:cNvPr id="7" name="bug note"/>
          <p:cNvSpPr txBox="1"/>
          <p:nvPr/>
        </p:nvSpPr>
        <p:spPr>
          <a:xfrm>
            <a:off x="457200" y="3840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BatchNorm momentum 0.9: the default 0.99 made the model predict Closed for every image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99.45% on held-out eyes, 90.22% on real photos</a:t>
            </a:r>
            <a:endParaRPr lang="en-US" sz="2800" dirty="0"/>
          </a:p>
        </p:txBody>
      </p:sp>
      <p:sp>
        <p:nvSpPr>
          <p:cNvPr id="3" name="held-out test, 6,319 eyes value"/>
          <p:cNvSpPr txBox="1"/>
          <p:nvPr/>
        </p:nvSpPr>
        <p:spPr>
          <a:xfrm>
            <a:off x="457200" y="1143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99.45%</a:t>
            </a:r>
            <a:endParaRPr lang="en-US" sz="4000" dirty="0"/>
          </a:p>
        </p:txBody>
      </p:sp>
      <p:sp>
        <p:nvSpPr>
          <p:cNvPr id="4" name="held-out test, 6,319 eyes label"/>
          <p:cNvSpPr txBox="1"/>
          <p:nvPr/>
        </p:nvSpPr>
        <p:spPr>
          <a:xfrm>
            <a:off x="45720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held-out test, 6,319 eyes</a:t>
            </a:r>
            <a:endParaRPr lang="en-US" sz="1300" dirty="0"/>
          </a:p>
        </p:txBody>
      </p:sp>
      <p:sp>
        <p:nvSpPr>
          <p:cNvPr id="5" name="real photos, 3,486 eyes value"/>
          <p:cNvSpPr txBox="1"/>
          <p:nvPr/>
        </p:nvSpPr>
        <p:spPr>
          <a:xfrm>
            <a:off x="45720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90.22%</a:t>
            </a:r>
            <a:endParaRPr lang="en-US" sz="4000" dirty="0"/>
          </a:p>
        </p:txBody>
      </p:sp>
      <p:sp>
        <p:nvSpPr>
          <p:cNvPr id="6" name="real photos, 3,486 eyes label"/>
          <p:cNvSpPr txBox="1"/>
          <p:nvPr/>
        </p:nvSpPr>
        <p:spPr>
          <a:xfrm>
            <a:off x="4572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real photos, 3,486 eyes</a:t>
            </a:r>
            <a:endParaRPr lang="en-US" sz="1300" dirty="0"/>
          </a:p>
        </p:txBody>
      </p:sp>
      <p:sp>
        <p:nvSpPr>
          <p:cNvPr id="7" name="recall on real closed eyes value"/>
          <p:cNvSpPr txBox="1"/>
          <p:nvPr/>
        </p:nvSpPr>
        <p:spPr>
          <a:xfrm>
            <a:off x="4572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0.944</a:t>
            </a:r>
            <a:endParaRPr lang="en-US" sz="4000" dirty="0"/>
          </a:p>
        </p:txBody>
      </p:sp>
      <p:sp>
        <p:nvSpPr>
          <p:cNvPr id="8" name="recall on real closed eyes label"/>
          <p:cNvSpPr txBox="1"/>
          <p:nvPr/>
        </p:nvSpPr>
        <p:spPr>
          <a:xfrm>
            <a:off x="4572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recall on real closed eyes</a:t>
            </a:r>
            <a:endParaRPr lang="en-US" sz="1300" dirty="0"/>
          </a:p>
        </p:txBody>
      </p:sp>
      <p:pic>
        <p:nvPicPr>
          <p:cNvPr id="9" name="confusion matrices" descr="/Users/admin/Desktop/DL_AAT/aat2/deck/img/aat2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188720"/>
            <a:ext cx="5257800" cy="2361086"/>
          </a:xfrm>
          <a:prstGeom prst="rect">
            <a:avLst/>
          </a:prstGeom>
        </p:spPr>
      </p:pic>
      <p:sp>
        <p:nvSpPr>
          <p:cNvPr id="10" name="results note"/>
          <p:cNvSpPr txBox="1"/>
          <p:nvPr/>
        </p:nvSpPr>
        <p:spPr>
          <a:xfrm>
            <a:off x="3429000" y="36576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Real photos come from a different source, so the drop to 90.22% (AUC 0.962) is the realistic figure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25 of 26 drowsy videos had more eye closure</a:t>
            </a:r>
            <a:endParaRPr lang="en-US" sz="2800" dirty="0"/>
          </a:p>
        </p:txBody>
      </p:sp>
      <p:graphicFrame>
        <p:nvGraphicFramePr>
          <p:cNvPr id="3" name="perclos chart" descr=""/>
          <p:cNvGraphicFramePr/>
          <p:nvPr/>
        </p:nvGraphicFramePr>
        <p:xfrm>
          <a:off x="365760" y="105156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ALERT  P(closed) = 0.00 image" descr="/Users/admin/Desktop/DL_AAT/aat2/deck/img/app_alert_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88720"/>
            <a:ext cx="1280160" cy="1280160"/>
          </a:xfrm>
          <a:prstGeom prst="rect">
            <a:avLst/>
          </a:prstGeom>
        </p:spPr>
      </p:pic>
      <p:sp>
        <p:nvSpPr>
          <p:cNvPr id="5" name="ALERT  P(closed) = 0.00 chip"/>
          <p:cNvSpPr/>
          <p:nvPr/>
        </p:nvSpPr>
        <p:spPr>
          <a:xfrm>
            <a:off x="5989320" y="2560320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6" name="ALERT  P(closed) = 0.00 state"/>
          <p:cNvSpPr txBox="1"/>
          <p:nvPr/>
        </p:nvSpPr>
        <p:spPr>
          <a:xfrm>
            <a:off x="598932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ALERT</a:t>
            </a:r>
            <a:endParaRPr lang="en-US" sz="1200" dirty="0"/>
          </a:p>
        </p:txBody>
      </p:sp>
      <p:sp>
        <p:nvSpPr>
          <p:cNvPr id="7" name="ALERT  P(closed) = 0.00 prob"/>
          <p:cNvSpPr txBox="1"/>
          <p:nvPr/>
        </p:nvSpPr>
        <p:spPr>
          <a:xfrm>
            <a:off x="5989320" y="2798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P(closed) = 0.00</a:t>
            </a:r>
            <a:endParaRPr lang="en-US" sz="1000" dirty="0"/>
          </a:p>
        </p:txBody>
      </p:sp>
      <p:pic>
        <p:nvPicPr>
          <p:cNvPr id="8" name="DROWSY  P(closed) = 1.00 image" descr="/Users/admin/Desktop/DL_AAT/aat2/deck/img/app_drowsy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1280160" cy="1280160"/>
          </a:xfrm>
          <a:prstGeom prst="rect">
            <a:avLst/>
          </a:prstGeom>
        </p:spPr>
      </p:pic>
      <p:sp>
        <p:nvSpPr>
          <p:cNvPr id="9" name="DROWSY  P(closed) = 1.00 chip"/>
          <p:cNvSpPr/>
          <p:nvPr/>
        </p:nvSpPr>
        <p:spPr>
          <a:xfrm>
            <a:off x="7360920" y="2560320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0" name="DROWSY  P(closed) = 1.00 state"/>
          <p:cNvSpPr txBox="1"/>
          <p:nvPr/>
        </p:nvSpPr>
        <p:spPr>
          <a:xfrm>
            <a:off x="736092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DROWSY</a:t>
            </a:r>
            <a:endParaRPr lang="en-US" sz="1200" dirty="0"/>
          </a:p>
        </p:txBody>
      </p:sp>
      <p:sp>
        <p:nvSpPr>
          <p:cNvPr id="11" name="DROWSY  P(closed) = 1.00 prob"/>
          <p:cNvSpPr txBox="1"/>
          <p:nvPr/>
        </p:nvSpPr>
        <p:spPr>
          <a:xfrm>
            <a:off x="7360920" y="2798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P(closed) = 1.00</a:t>
            </a:r>
            <a:endParaRPr lang="en-US" sz="1000" dirty="0"/>
          </a:p>
        </p:txBody>
      </p:sp>
      <p:sp>
        <p:nvSpPr>
          <p:cNvPr id="12" name="demo note"/>
          <p:cNvSpPr txBox="1"/>
          <p:nvPr/>
        </p:nvSpPr>
        <p:spPr>
          <a:xfrm>
            <a:off x="5989320" y="32004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Gradio app, same driver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Average closed-eye share: 66.5% in drowsy videos vs 23.0% in alert videos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Eye-state CNN gives a reliable drowsiness alarm</a:t>
            </a:r>
            <a:endParaRPr lang="en-US" sz="2800" dirty="0"/>
          </a:p>
        </p:txBody>
      </p:sp>
      <p:sp>
        <p:nvSpPr>
          <p:cNvPr id="3" name="Eye state, not identity circle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Eye state, not identit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330452"/>
            <a:ext cx="283464" cy="283464"/>
          </a:xfrm>
          <a:prstGeom prst="rect">
            <a:avLst/>
          </a:prstGeom>
        </p:spPr>
      </p:pic>
      <p:sp>
        <p:nvSpPr>
          <p:cNvPr id="5" name="Eye state, not identity head"/>
          <p:cNvSpPr txBox="1"/>
          <p:nvPr/>
        </p:nvSpPr>
        <p:spPr>
          <a:xfrm>
            <a:off x="12344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Eye state, not identity</a:t>
            </a:r>
            <a:endParaRPr lang="en-US" sz="1600" dirty="0"/>
          </a:p>
        </p:txBody>
      </p:sp>
      <p:sp>
        <p:nvSpPr>
          <p:cNvPr id="6" name="Eye state, not identity body"/>
          <p:cNvSpPr txBox="1"/>
          <p:nvPr/>
        </p:nvSpPr>
        <p:spPr>
          <a:xfrm>
            <a:off x="1234440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Splitting the task into eye state plus a frame counter generalises to new drivers</a:t>
            </a:r>
            <a:endParaRPr lang="en-US" sz="1300" dirty="0"/>
          </a:p>
        </p:txBody>
      </p:sp>
      <p:sp>
        <p:nvSpPr>
          <p:cNvPr id="7" name="Tested honestly circle"/>
          <p:cNvSpPr/>
          <p:nvPr/>
        </p:nvSpPr>
        <p:spPr>
          <a:xfrm>
            <a:off x="457200" y="20574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Tested honestl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199132"/>
            <a:ext cx="283464" cy="283464"/>
          </a:xfrm>
          <a:prstGeom prst="rect">
            <a:avLst/>
          </a:prstGeom>
        </p:spPr>
      </p:pic>
      <p:sp>
        <p:nvSpPr>
          <p:cNvPr id="9" name="Tested honestly head"/>
          <p:cNvSpPr txBox="1"/>
          <p:nvPr/>
        </p:nvSpPr>
        <p:spPr>
          <a:xfrm>
            <a:off x="123444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Tested honestly</a:t>
            </a:r>
            <a:endParaRPr lang="en-US" sz="1600" dirty="0"/>
          </a:p>
        </p:txBody>
      </p:sp>
      <p:sp>
        <p:nvSpPr>
          <p:cNvPr id="10" name="Tested honestly body"/>
          <p:cNvSpPr txBox="1"/>
          <p:nvPr/>
        </p:nvSpPr>
        <p:spPr>
          <a:xfrm>
            <a:off x="123444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99.45% held-out, 90.22% on real photos from another source</a:t>
            </a:r>
            <a:endParaRPr lang="en-US" sz="1300" dirty="0"/>
          </a:p>
        </p:txBody>
      </p:sp>
      <p:sp>
        <p:nvSpPr>
          <p:cNvPr id="11" name="Working system circle"/>
          <p:cNvSpPr/>
          <p:nvPr/>
        </p:nvSpPr>
        <p:spPr>
          <a:xfrm>
            <a:off x="457200" y="2926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Working syste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067812"/>
            <a:ext cx="283464" cy="283464"/>
          </a:xfrm>
          <a:prstGeom prst="rect">
            <a:avLst/>
          </a:prstGeom>
        </p:spPr>
      </p:pic>
      <p:sp>
        <p:nvSpPr>
          <p:cNvPr id="13" name="Working system head"/>
          <p:cNvSpPr txBox="1"/>
          <p:nvPr/>
        </p:nvSpPr>
        <p:spPr>
          <a:xfrm>
            <a:off x="123444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Working system</a:t>
            </a:r>
            <a:endParaRPr lang="en-US" sz="1600" dirty="0"/>
          </a:p>
        </p:txBody>
      </p:sp>
      <p:sp>
        <p:nvSpPr>
          <p:cNvPr id="14" name="Working system body"/>
          <p:cNvSpPr txBox="1"/>
          <p:nvPr/>
        </p:nvSpPr>
        <p:spPr>
          <a:xfrm>
            <a:off x="123444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Gradio web app and a real-time webcam monitor with an alarm</a:t>
            </a:r>
            <a:endParaRPr lang="en-US" sz="1300" dirty="0"/>
          </a:p>
        </p:txBody>
      </p:sp>
      <p:sp>
        <p:nvSpPr>
          <p:cNvPr id="15" name="next steps card"/>
          <p:cNvSpPr/>
          <p:nvPr/>
        </p:nvSpPr>
        <p:spPr>
          <a:xfrm>
            <a:off x="5486400" y="1188720"/>
            <a:ext cx="3200400" cy="1965960"/>
          </a:xfrm>
          <a:prstGeom prst="roundRect">
            <a:avLst>
              <a:gd name="adj" fmla="val 3721"/>
            </a:avLst>
          </a:prstGeom>
          <a:solidFill>
            <a:schemeClr val="tx1"/>
          </a:solidFill>
          <a:ln/>
        </p:spPr>
      </p:sp>
      <p:sp>
        <p:nvSpPr>
          <p:cNvPr id="16" name="next head"/>
          <p:cNvSpPr txBox="1"/>
          <p:nvPr/>
        </p:nvSpPr>
        <p:spPr>
          <a:xfrm>
            <a:off x="57150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7" name="next list"/>
          <p:cNvSpPr txBox="1"/>
          <p:nvPr/>
        </p:nvSpPr>
        <p:spPr>
          <a:xfrm>
            <a:off x="5715000" y="173736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More real and infrared driver images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Add yawning and head nodding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Landmark-based eye localisation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Test in a real vehicle</a:t>
            </a:r>
            <a:endParaRPr lang="en-US" sz="1300" dirty="0"/>
          </a:p>
        </p:txBody>
      </p:sp>
      <p:pic>
        <p:nvPicPr>
          <p:cNvPr id="18" name="github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292608" cy="292608"/>
          </a:xfrm>
          <a:prstGeom prst="rect">
            <a:avLst/>
          </a:prstGeom>
        </p:spPr>
      </p:pic>
      <p:sp>
        <p:nvSpPr>
          <p:cNvPr id="19" name="repo link"/>
          <p:cNvSpPr txBox="1"/>
          <p:nvPr/>
        </p:nvSpPr>
        <p:spPr>
          <a:xfrm>
            <a:off x="868680" y="4069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github.com/Arpit529Srivastava/Deep-Learning-AAT</a:t>
            </a:r>
            <a:endParaRPr lang="en-US" sz="1200" dirty="0"/>
          </a:p>
        </p:txBody>
      </p:sp>
      <p:sp>
        <p:nvSpPr>
          <p:cNvPr id="20" name="thanks"/>
          <p:cNvSpPr txBox="1"/>
          <p:nvPr/>
        </p:nvSpPr>
        <p:spPr>
          <a:xfrm>
            <a:off x="548640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ht Drive">
  <a:themeElements>
    <a:clrScheme name="Night Drive">
      <a:dk1>
        <a:srgbClr val="1A1F2E"/>
      </a:dk1>
      <a:lt1>
        <a:srgbClr val="FFFFFF"/>
      </a:lt1>
      <a:dk2>
        <a:srgbClr val="1E2B45"/>
      </a:dk2>
      <a:lt2>
        <a:srgbClr val="EEF1F6"/>
      </a:lt2>
      <a:accent1>
        <a:srgbClr val="F2A541"/>
      </a:accent1>
      <a:accent2>
        <a:srgbClr val="C0392B"/>
      </a:accent2>
      <a:accent3>
        <a:srgbClr val="2E8B57"/>
      </a:accent3>
      <a:accent4>
        <a:srgbClr val="3B6EA8"/>
      </a:accent4>
      <a:accent5>
        <a:srgbClr val="6B7385"/>
      </a:accent5>
      <a:accent6>
        <a:srgbClr val="E07B39"/>
      </a:accent6>
      <a:hlink>
        <a:srgbClr val="3B6EA8"/>
      </a:hlink>
      <a:folHlink>
        <a:srgbClr val="6B7385"/>
      </a:folHlink>
    </a:clrScheme>
    <a:fontScheme name="Night Dr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using CNN</dc:title>
  <dc:subject>PptxGenJS Presentation</dc:subject>
  <dc:creator>Arpit Srivastava, Khushi Agrawal, Himanshu, Harsh Kumar Gupta</dc:creator>
  <cp:lastModifiedBy>Arpit Srivastava, Khushi Agrawal, Himanshu, Harsh Kumar Gupta</cp:lastModifiedBy>
  <cp:revision>1</cp:revision>
  <dcterms:created xsi:type="dcterms:W3CDTF">2026-10-23T12:19:15Z</dcterms:created>
  <dcterms:modified xsi:type="dcterms:W3CDTF">2026-10-23T12:19:15Z</dcterms:modified>
</cp:coreProperties>
</file>